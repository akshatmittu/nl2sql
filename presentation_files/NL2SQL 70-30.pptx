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regular.fntdata"/><Relationship Id="rId21" Type="http://schemas.openxmlformats.org/officeDocument/2006/relationships/slide" Target="slides/slide17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b1b64c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b1b64c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78bae78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78bae78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78bae78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78bae78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78bae78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78bae78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78bae78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78bae78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78bae78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78bae78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8bae789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78bae789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78bae789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78bae789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78bae789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78bae789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8bae789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78bae789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78bae789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78bae789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8bae789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78bae789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cb1b64c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cb1b64c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78bae78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78bae78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78bae789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78bae789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cb1b64c1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cb1b64c1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stemWide-gol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47008"/>
            <a:ext cx="9144000" cy="89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noFill/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33"/>
              </a:buClr>
              <a:buSzPts val="2800"/>
              <a:buNone/>
              <a:defRPr sz="2800">
                <a:solidFill>
                  <a:srgbClr val="FFCC33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SystemWide-maroon.png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47008"/>
            <a:ext cx="9144000" cy="896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Font typeface="Raleway"/>
              <a:buNone/>
              <a:defRPr sz="2800">
                <a:solidFill>
                  <a:srgbClr val="7A001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7A0019"/>
              </a:buClr>
              <a:buSzPts val="2800"/>
              <a:buNone/>
              <a:defRPr sz="2800">
                <a:solidFill>
                  <a:srgbClr val="7A0019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  <a:defRPr sz="1800"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  <a:defRPr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aleway"/>
              <a:buChar char="■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rxiv.org/abs/1911.04942" TargetMode="External"/><Relationship Id="rId4" Type="http://schemas.openxmlformats.org/officeDocument/2006/relationships/hyperlink" Target="https://arxiv.org/abs/2304.11556" TargetMode="External"/><Relationship Id="rId5" Type="http://schemas.openxmlformats.org/officeDocument/2006/relationships/hyperlink" Target="https://arxiv.org/pdf/2509.04657" TargetMode="External"/><Relationship Id="rId6" Type="http://schemas.openxmlformats.org/officeDocument/2006/relationships/hyperlink" Target="https://arxiv.org/html/2509.00581v2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573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NL2SQL</a:t>
            </a:r>
            <a:r>
              <a:rPr lang="en"/>
              <a:t> 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625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008: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Anjali Vemula (6076947), Akshat Dasula (5979761)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75850" y="29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Pain point</a:t>
            </a:r>
            <a:r>
              <a:rPr lang="en"/>
              <a:t>: “Data is available, but not accessible.”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Data Access is usually through SQL, limited to technical experts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Non-technical users in domains like finance, rely on analyst to generate reports, delaying decisions.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With advancements in NLP and LLMs</a:t>
            </a:r>
            <a:r>
              <a:rPr lang="en"/>
              <a:t>, people can directly talk to legacy systems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This bridges the gap between human intent and machine logic, unlocking data for everyone.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ChatGPT gives only </a:t>
            </a:r>
            <a:r>
              <a:rPr i="1" lang="en">
                <a:solidFill>
                  <a:schemeClr val="dk1"/>
                </a:solidFill>
              </a:rPr>
              <a:t>“best guess”</a:t>
            </a:r>
            <a:r>
              <a:rPr lang="en">
                <a:solidFill>
                  <a:schemeClr val="dk1"/>
                </a:solidFill>
              </a:rPr>
              <a:t> output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86250" y="283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Definition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86250" y="1018050"/>
            <a:ext cx="494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necessary to have a automatic, reliable, safe solution to convert NL queries to SQL seamlessly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Users should be able to ask questions in plain English and receive correct, executable SQL without knowing the database structure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C</a:t>
            </a:r>
            <a:r>
              <a:rPr b="1" lang="en"/>
              <a:t>hallenge:</a:t>
            </a:r>
            <a:r>
              <a:rPr lang="en"/>
              <a:t> LLMs often produce SQL that is syntactically invalid, uses wrong hallucinates tables or columns names, or does not match the user’s intent. Making it necessary for error-checks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750" y="1218296"/>
            <a:ext cx="4009551" cy="3157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</a:t>
            </a:r>
            <a:r>
              <a:rPr lang="en"/>
              <a:t> works have demonstrated use of specialized architectures such as </a:t>
            </a:r>
            <a:r>
              <a:rPr b="1" lang="en"/>
              <a:t>[1]</a:t>
            </a:r>
            <a:r>
              <a:rPr lang="en"/>
              <a:t> that take portions of NL and link SQL semantically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With the large number of LLMs today, it is necessary that we adopt good </a:t>
            </a:r>
            <a:r>
              <a:rPr lang="en"/>
              <a:t>prompting</a:t>
            </a:r>
            <a:r>
              <a:rPr lang="en"/>
              <a:t> strategies such as </a:t>
            </a:r>
            <a:r>
              <a:rPr b="1" lang="en"/>
              <a:t>[2]</a:t>
            </a:r>
            <a:r>
              <a:rPr lang="en"/>
              <a:t> and use evaluations such as </a:t>
            </a:r>
            <a:r>
              <a:rPr b="1" lang="en"/>
              <a:t>[3]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Even with that SQL query is not easy to generate from NL query. </a:t>
            </a:r>
            <a:r>
              <a:rPr b="1" lang="en"/>
              <a:t>[4]</a:t>
            </a:r>
            <a:r>
              <a:rPr lang="en"/>
              <a:t> the base paper for our approach.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Our approach differs using persona based </a:t>
            </a:r>
            <a:r>
              <a:rPr b="1" lang="en"/>
              <a:t>KPI-driven</a:t>
            </a:r>
            <a:r>
              <a:rPr lang="en"/>
              <a:t> approach, by adding logical error </a:t>
            </a:r>
            <a:r>
              <a:rPr lang="en"/>
              <a:t>analysis</a:t>
            </a:r>
            <a:r>
              <a:rPr lang="en"/>
              <a:t> and feedback loops to correct the generate SQL query over iterations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Insurance Data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 in DB: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>
                <a:solidFill>
                  <a:srgbClr val="188038"/>
                </a:solidFill>
              </a:rPr>
              <a:t>Policies</a:t>
            </a:r>
            <a:r>
              <a:rPr lang="en">
                <a:solidFill>
                  <a:schemeClr val="dk1"/>
                </a:solidFill>
              </a:rPr>
              <a:t> – Contains details of issued insurance policies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>
                <a:solidFill>
                  <a:srgbClr val="188038"/>
                </a:solidFill>
              </a:rPr>
              <a:t>Claims</a:t>
            </a:r>
            <a:r>
              <a:rPr lang="en">
                <a:solidFill>
                  <a:schemeClr val="dk1"/>
                </a:solidFill>
              </a:rPr>
              <a:t> – Tracks claims filed against insurance policies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>
                <a:solidFill>
                  <a:srgbClr val="188038"/>
                </a:solidFill>
              </a:rPr>
              <a:t>Agents</a:t>
            </a:r>
            <a:r>
              <a:rPr lang="en">
                <a:solidFill>
                  <a:schemeClr val="dk1"/>
                </a:solidFill>
              </a:rPr>
              <a:t> – Stores information about agents selling or managing policies.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>
                <a:solidFill>
                  <a:srgbClr val="188038"/>
                </a:solidFill>
              </a:rPr>
              <a:t>Submissions </a:t>
            </a:r>
            <a:r>
              <a:rPr lang="en">
                <a:solidFill>
                  <a:schemeClr val="dk1"/>
                </a:solidFill>
              </a:rPr>
              <a:t> – Represents incoming insurance leads and quote processing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>
                <a:solidFill>
                  <a:srgbClr val="188038"/>
                </a:solidFill>
              </a:rPr>
              <a:t>Customers - </a:t>
            </a:r>
            <a:r>
              <a:rPr lang="en">
                <a:solidFill>
                  <a:schemeClr val="dk1"/>
                </a:solidFill>
              </a:rPr>
              <a:t>Stores customer demographic, financial, and preference information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173" y="214326"/>
            <a:ext cx="6918826" cy="492917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type="title"/>
          </p:nvPr>
        </p:nvSpPr>
        <p:spPr>
          <a:xfrm>
            <a:off x="64050" y="34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 Diagram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enters an NL Query: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Query is checked for relevance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Knowledge is generated for the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This knowledge, schema, KPIs etc are used to generate the SQL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SQL query is run on sqlite3 DB for syntax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Errors are caught and query is tuned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Query is run for logical errors via reverse engineering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Suggestions are taken and query is tuned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Repeated for N times, results are fetched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of Execution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172" y="-1"/>
            <a:ext cx="35261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61950" y="1238200"/>
            <a:ext cx="383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NL</a:t>
            </a:r>
            <a:r>
              <a:rPr lang="en">
                <a:solidFill>
                  <a:schemeClr val="dk1"/>
                </a:solidFill>
              </a:rPr>
              <a:t> - Natural Language Query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KPI </a:t>
            </a:r>
            <a:r>
              <a:rPr lang="en">
                <a:solidFill>
                  <a:schemeClr val="dk1"/>
                </a:solidFill>
              </a:rPr>
              <a:t>- Key Performance Indicators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CoT</a:t>
            </a:r>
            <a:r>
              <a:rPr lang="en"/>
              <a:t> - Chain-of-Thought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GKP</a:t>
            </a:r>
            <a:r>
              <a:rPr lang="en"/>
              <a:t> - Generate Knowledge Prompting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Generation</a:t>
            </a:r>
            <a:r>
              <a:rPr lang="en" sz="2200"/>
              <a:t>:</a:t>
            </a:r>
            <a:r>
              <a:rPr lang="en"/>
              <a:t> Checking relevance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an NL query is given: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First the relevance of that query is checked (to the domain):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For query: </a:t>
            </a:r>
            <a:r>
              <a:rPr i="1" lang="en"/>
              <a:t>“What is the loss ratio in 2023, 2024?”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 Explanation: “</a:t>
            </a:r>
            <a:r>
              <a:rPr i="1" lang="en"/>
              <a:t>The query asks for the loss ratio, which is a direct reference to a KPI in the insurance domain”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For query: </a:t>
            </a:r>
            <a:r>
              <a:rPr i="1" lang="en"/>
              <a:t>“What is the cost of this swimming pool?”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 Explanation</a:t>
            </a:r>
            <a:r>
              <a:rPr i="1" lang="en"/>
              <a:t>: “The query asks for the cost of a swimming pool which does not relate to the insurance doman.</a:t>
            </a:r>
            <a:endParaRPr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Generation</a:t>
            </a:r>
            <a:r>
              <a:rPr lang="en" sz="2200"/>
              <a:t>:</a:t>
            </a:r>
            <a:r>
              <a:rPr lang="en"/>
              <a:t> Generating SQL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96625" y="1152475"/>
            <a:ext cx="405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given SQL query is relevant: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related knowledge is </a:t>
            </a:r>
            <a:r>
              <a:rPr lang="en"/>
              <a:t>generated</a:t>
            </a:r>
            <a:r>
              <a:rPr lang="en"/>
              <a:t>, this knowledge contains: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Tables, Columns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KPI formula if used in NL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Steps to generate the query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this information is used to </a:t>
            </a:r>
            <a:r>
              <a:rPr lang="en"/>
              <a:t>generate the SQL query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925" y="1495825"/>
            <a:ext cx="4973476" cy="24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</a:t>
            </a:r>
            <a:r>
              <a:rPr lang="en"/>
              <a:t> Execution: Checking for Syntax Errors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286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generated query is then run on an sqlite3 DB.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executed, it is continued for next steps: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Otherwise,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Suggestions are asked for revisions of the generated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These suggestions are used to generate and execute the query again.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141450" y="95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Execution: </a:t>
            </a:r>
            <a:r>
              <a:rPr lang="en"/>
              <a:t>Example of Syntax Error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387" y="668250"/>
            <a:ext cx="6559389" cy="43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Engineering and Comparison </a:t>
            </a:r>
            <a:r>
              <a:rPr lang="en"/>
              <a:t>with NL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195200" y="1152475"/>
            <a:ext cx="340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the generated query to NL again,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Use LLM-as-a-judge to compare the generated NL and NL query.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2503" y="1017725"/>
            <a:ext cx="5426545" cy="39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97850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and Results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97850" y="668575"/>
            <a:ext cx="3782100" cy="43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used, from huggingface: </a:t>
            </a:r>
            <a:r>
              <a:rPr lang="en">
                <a:solidFill>
                  <a:schemeClr val="dk1"/>
                </a:solidFill>
              </a:rPr>
              <a:t>gretelai/synthetic_text_to_sql, Tweaked the dataset a bit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LLM-as-a-Judge approach: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After</a:t>
            </a:r>
            <a:r>
              <a:rPr lang="en"/>
              <a:t> a query is generated, it is compared </a:t>
            </a:r>
            <a:r>
              <a:rPr lang="en"/>
              <a:t>against</a:t>
            </a:r>
            <a:r>
              <a:rPr lang="en"/>
              <a:t> the ground truth and semantic link with the NL query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Reported Accuracy: 60 queries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50 dataset + 10 manual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~90%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375" y="277775"/>
            <a:ext cx="2602625" cy="25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0025" y="2212575"/>
            <a:ext cx="3100450" cy="293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execution has </a:t>
            </a:r>
            <a:r>
              <a:rPr b="1" lang="en"/>
              <a:t>7</a:t>
            </a:r>
            <a:r>
              <a:rPr lang="en"/>
              <a:t> LLM calls in total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Average time taken to fetch results: ~20s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LLM used: </a:t>
            </a:r>
            <a:r>
              <a:rPr i="1" lang="en"/>
              <a:t>“mistral-large-2411”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for LLMs: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Insurance Domain Specialist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SQL Data Analyst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Judge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u="sng">
                <a:solidFill>
                  <a:schemeClr val="hlink"/>
                </a:solidFill>
                <a:hlinkClick r:id="rId3"/>
              </a:rPr>
              <a:t>[1911.04942] RAT-SQL: Relation-Aware Schema Encoding and Linking for Text-to-SQL Parsers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 u="sng">
                <a:solidFill>
                  <a:schemeClr val="hlink"/>
                </a:solidFill>
                <a:hlinkClick r:id="rId4"/>
              </a:rPr>
              <a:t>[2304.11556] Divide and Prompt: Chain of Thought Prompting for Text-to-SQL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arenR"/>
            </a:pPr>
            <a:r>
              <a:rPr lang="en" u="sng">
                <a:solidFill>
                  <a:schemeClr val="hlink"/>
                </a:solidFill>
                <a:hlinkClick r:id="rId5"/>
              </a:rPr>
              <a:t>Evaluating NL2SQL via SQL2NL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arenR"/>
            </a:pPr>
            <a:r>
              <a:rPr lang="en" u="sng">
                <a:solidFill>
                  <a:schemeClr val="hlink"/>
                </a:solidFill>
                <a:hlinkClick r:id="rId6"/>
              </a:rPr>
              <a:t>SQL-of-Thought: Multi-agentic Text-to-SQL with Guided Error Correction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